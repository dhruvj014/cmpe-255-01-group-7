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85725" cy="85725"/>
          </a:xfrm>
          <a:prstGeom prst="ellipse">
            <a:avLst/>
          </a:prstGeom>
          <a:solidFill>
            <a:srgbClr val="4ADE80"/>
          </a:solidFill>
          <a:ln/>
          <a:effectLst>
            <a:outerShdw sx="100000" sy="100000" kx="0" ky="0" algn="bl" rotWithShape="0" blurRad="133350" dist="50800" dir="16200000">
              <a:srgbClr val="4ADE80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28725" y="914400"/>
            <a:ext cx="2453655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608,598 reviews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34780" y="914400"/>
            <a:ext cx="23470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221882" y="914400"/>
            <a:ext cx="2453655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signal layers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827937" y="914400"/>
            <a:ext cx="23470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215039" y="914400"/>
            <a:ext cx="1502643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0.944 AUC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400" y="1244352"/>
            <a:ext cx="1695297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REVIEW DETECTION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734889"/>
            <a:ext cx="14716125" cy="3734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900" b="1" spc="-346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Review Detection </a:t>
            </a:r>
            <a:pPr algn="l" indent="0" marL="0">
              <a:lnSpc>
                <a:spcPct val="98000"/>
              </a:lnSpc>
              <a:buNone/>
            </a:pPr>
            <a:r>
              <a:rPr lang="en-US" sz="9900" b="1" spc="-346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Yelp.</a:t>
            </a:r>
            <a:endParaRPr lang="en-US" sz="9900" dirty="0"/>
          </a:p>
        </p:txBody>
      </p:sp>
      <p:sp>
        <p:nvSpPr>
          <p:cNvPr id="10" name="Text 8"/>
          <p:cNvSpPr/>
          <p:nvPr/>
        </p:nvSpPr>
        <p:spPr>
          <a:xfrm>
            <a:off x="914400" y="5736134"/>
            <a:ext cx="16952976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49" kern="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Multi-Signal Analysis on YelpZip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14400" y="6337548"/>
            <a:ext cx="727137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" kern="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7 · CMPE 255 · Spring 2026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6828086"/>
            <a:ext cx="311698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Himanshu Jain </a:t>
            </a:r>
            <a:pPr algn="l" indent="0" marL="0">
              <a:buNone/>
            </a:pPr>
            <a:r>
              <a:rPr lang="en-US" sz="180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019098794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550197" y="6828086"/>
            <a:ext cx="352650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Disha Jadav </a:t>
            </a:r>
            <a:pPr algn="l" indent="0" marL="0">
              <a:buNone/>
            </a:pPr>
            <a:r>
              <a:rPr lang="en-US" sz="180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018484362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14400" y="7223373"/>
            <a:ext cx="311698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Nitish Kumar </a:t>
            </a:r>
            <a:pPr algn="l" indent="0" marL="0">
              <a:buNone/>
            </a:pPr>
            <a:r>
              <a:rPr lang="en-US" sz="180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019155916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550197" y="7223373"/>
            <a:ext cx="352650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Dhruv Sachin Jain </a:t>
            </a:r>
            <a:pPr algn="l" indent="0" marL="0">
              <a:buNone/>
            </a:pPr>
            <a:r>
              <a:rPr lang="en-US" sz="180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019150859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779486" y="6942386"/>
            <a:ext cx="459411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24" kern="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913296" y="7266236"/>
            <a:ext cx="4594114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github.com/dhruvj014/cmpe-255-01-group-7</a:t>
            </a:r>
            <a:endParaRPr lang="en-US" sz="18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0" y="5143500"/>
            <a:ext cx="40005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46255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472208" y="685800"/>
            <a:ext cx="26937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836837" y="685800"/>
            <a:ext cx="233474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12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AND OLAP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1223963"/>
            <a:ext cx="14716125" cy="146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 ETL and Reviewer-Level EDA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2917031"/>
            <a:ext cx="876300" cy="381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374231"/>
            <a:ext cx="9634017" cy="5424488"/>
          </a:xfrm>
          <a:prstGeom prst="roundRect">
            <a:avLst>
              <a:gd name="adj" fmla="val 316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571500" dist="285750" dir="5400000">
              <a:srgbClr val="000000">
                <a:alpha val="4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70224" y="3640931"/>
            <a:ext cx="6922294" cy="457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70882" y="8365331"/>
            <a:ext cx="672105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8" kern="0" dirty="0">
                <a:solidFill>
                  <a:srgbClr val="4A5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feature distributions across 260,277 profiles, YelpZip.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158017" y="3374231"/>
            <a:ext cx="6401974" cy="134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800" b="1" spc="-432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14×</a:t>
            </a:r>
            <a:endParaRPr lang="en-US" sz="10800" dirty="0"/>
          </a:p>
        </p:txBody>
      </p:sp>
      <p:sp>
        <p:nvSpPr>
          <p:cNvPr id="11" name="Text 8"/>
          <p:cNvSpPr/>
          <p:nvPr/>
        </p:nvSpPr>
        <p:spPr>
          <a:xfrm>
            <a:off x="11158017" y="4810571"/>
            <a:ext cx="451294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spam-rate gap, new (&lt;30 days) vs veteran (&gt;365 days) reviewers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158017" y="5926782"/>
            <a:ext cx="6215509" cy="9525"/>
          </a:xfrm>
          <a:prstGeom prst="rect">
            <a:avLst/>
          </a:prstGeom>
          <a:solidFill>
            <a:srgbClr val="F5F7FB">
              <a:alpha val="8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1367567" y="6145857"/>
            <a:ext cx="619242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 ETL across 5 TSV files into review, reviewer, and seller feature tables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367567" y="6942088"/>
            <a:ext cx="619242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OLAP cubes;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CE2F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burst_score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CE2F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rating_entropy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temporal and rating patterns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367567" y="7738318"/>
            <a:ext cx="619242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single-review users create bimodal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CE2F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spam_rate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(0% or 100%), motivating L5 redesign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14400" y="9103519"/>
            <a:ext cx="16459200" cy="9525"/>
          </a:xfrm>
          <a:prstGeom prst="rect">
            <a:avLst/>
          </a:prstGeom>
          <a:solidFill>
            <a:srgbClr val="F5F7FB">
              <a:alpha val="8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9491663"/>
            <a:ext cx="793099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bimodal spam_rate distribution drives every downstream design choice.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5617130" y="9472613"/>
            <a:ext cx="183267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Himanshu Jain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46255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472208" y="685800"/>
            <a:ext cx="26937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836837" y="685800"/>
            <a:ext cx="523418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12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FP-GROWTH ASSOCIATION RULES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1223963"/>
            <a:ext cx="14716125" cy="146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FP-Growth Association Rule Mining on Discretized Reviewer Baskets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2917031"/>
            <a:ext cx="876300" cy="381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374231"/>
            <a:ext cx="9634017" cy="5160318"/>
          </a:xfrm>
          <a:prstGeom prst="roundRect">
            <a:avLst>
              <a:gd name="adj" fmla="val 3322"/>
            </a:avLst>
          </a:prstGeom>
          <a:solidFill>
            <a:srgbClr val="F7F8FA"/>
          </a:solidFill>
          <a:ln/>
          <a:effectLst>
            <a:outerShdw sx="100000" sy="100000" kx="0" ky="0" algn="bl" rotWithShape="0" blurRad="571500" dist="285750" dir="5400000">
              <a:srgbClr val="000000">
                <a:alpha val="4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1100" y="3844677"/>
            <a:ext cx="9100617" cy="39002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627878" y="7897341"/>
            <a:ext cx="620698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8" kern="0" dirty="0">
                <a:solidFill>
                  <a:srgbClr val="4A5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spam-correlated association rules vs. 13.2% baseline.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158017" y="3374231"/>
            <a:ext cx="6401974" cy="134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800" b="1" spc="-432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29.1%</a:t>
            </a:r>
            <a:endParaRPr lang="en-US" sz="10800" dirty="0"/>
          </a:p>
        </p:txBody>
      </p:sp>
      <p:sp>
        <p:nvSpPr>
          <p:cNvPr id="11" name="Text 8"/>
          <p:cNvSpPr/>
          <p:nvPr/>
        </p:nvSpPr>
        <p:spPr>
          <a:xfrm>
            <a:off x="11158017" y="4810571"/>
            <a:ext cx="451294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rate for the dominant rule fingerprint, 2.2× baseline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158017" y="5926782"/>
            <a:ext cx="6215509" cy="9525"/>
          </a:xfrm>
          <a:prstGeom prst="rect">
            <a:avLst/>
          </a:prstGeom>
          <a:solidFill>
            <a:srgbClr val="F5F7FB">
              <a:alpha val="8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1367567" y="6145857"/>
            <a:ext cx="619242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260,277 reviewer baskets, 4 discretized features, 11 one-hot items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367567" y="6942088"/>
            <a:ext cx="619242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FP-Growth at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CE2F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min_support = 0.05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yields 35 itemsets, 24 spam-correlated rules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367567" y="7738318"/>
            <a:ext cx="619242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antecedent: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CE2F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{tenure=new, count=Low, seller_conc=High}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73% of reviewers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14400" y="8839349"/>
            <a:ext cx="16459200" cy="9525"/>
          </a:xfrm>
          <a:prstGeom prst="rect">
            <a:avLst/>
          </a:prstGeom>
          <a:solidFill>
            <a:srgbClr val="F5F7FB">
              <a:alpha val="8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9491663"/>
            <a:ext cx="803569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FP-Growth surfaces the dominant spam fingerprint without hand-coded rules.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5209193" y="9472613"/>
            <a:ext cx="224060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Dhruv Sachin Jain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46255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472208" y="685800"/>
            <a:ext cx="26937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836837" y="685800"/>
            <a:ext cx="523418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12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DEBERTA TEXT CLASSIFICATION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1223963"/>
            <a:ext cx="14716125" cy="146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DeBERTa-v3-base on Review Text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2917031"/>
            <a:ext cx="876300" cy="381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374231"/>
            <a:ext cx="9634017" cy="1516261"/>
          </a:xfrm>
          <a:prstGeom prst="roundRect">
            <a:avLst>
              <a:gd name="adj" fmla="val 11307"/>
            </a:avLst>
          </a:prstGeom>
          <a:solidFill>
            <a:srgbClr val="141A2C"/>
          </a:solidFill>
          <a:ln w="9525">
            <a:solidFill>
              <a:srgbClr val="F5F7FB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0625" y="3612356"/>
            <a:ext cx="2290465" cy="1040011"/>
          </a:xfrm>
          <a:prstGeom prst="roundRect">
            <a:avLst>
              <a:gd name="adj" fmla="val 12822"/>
            </a:avLst>
          </a:prstGeom>
          <a:solidFill>
            <a:srgbClr val="4ADE80">
              <a:alpha val="8000"/>
            </a:srgbClr>
          </a:solidFill>
          <a:ln w="9525">
            <a:solidFill>
              <a:srgbClr val="4ADE80">
                <a:alpha val="35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4ADE8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3774281"/>
            <a:ext cx="200471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216" kern="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TEXT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4203799"/>
            <a:ext cx="2004715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"Best place ever!!!"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09690" y="3925193"/>
            <a:ext cx="4191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1190" y="3798987"/>
            <a:ext cx="666750" cy="6667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81290" y="3818037"/>
            <a:ext cx="2122363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081290" y="4184749"/>
            <a:ext cx="212236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deberta_spam_prob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268569" y="3618012"/>
            <a:ext cx="300362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422K reviews · 99.8M params 6 epochs · AdamW lr 4e-5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14400" y="5042892"/>
            <a:ext cx="9634017" cy="3171676"/>
          </a:xfrm>
          <a:prstGeom prst="roundRect">
            <a:avLst>
              <a:gd name="adj" fmla="val 540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571500" dist="285750" dir="5400000">
              <a:srgbClr val="000000">
                <a:alpha val="45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73971" y="4754687"/>
            <a:ext cx="4114800" cy="34290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29789" y="8336087"/>
            <a:ext cx="560316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8" kern="0" dirty="0">
                <a:solidFill>
                  <a:srgbClr val="4A5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DeBERTa-v3-base ROC on 53,687 held-out reviews.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1158017" y="3374231"/>
            <a:ext cx="6401974" cy="134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800" b="1" spc="-432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10800" dirty="0"/>
          </a:p>
        </p:txBody>
      </p:sp>
      <p:sp>
        <p:nvSpPr>
          <p:cNvPr id="20" name="Text 16"/>
          <p:cNvSpPr/>
          <p:nvPr/>
        </p:nvSpPr>
        <p:spPr>
          <a:xfrm>
            <a:off x="11158017" y="4810571"/>
            <a:ext cx="45129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AUC-ROC on 53,687 held-out reviews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11158017" y="5606802"/>
            <a:ext cx="6215509" cy="9525"/>
          </a:xfrm>
          <a:prstGeom prst="rect">
            <a:avLst/>
          </a:prstGeom>
          <a:solidFill>
            <a:srgbClr val="F5F7FB">
              <a:alpha val="8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11367567" y="5825877"/>
            <a:ext cx="619242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F1-macro 0.841 at threshold 0.425, tuned on val for class balance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1367567" y="6622107"/>
            <a:ext cx="619242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Per-review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CE2F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deberta_spam_prob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 into Layer 5 as the 28th feature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11367567" y="7418338"/>
            <a:ext cx="619242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text classifier already beats every behavioral signal on AUC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914400" y="8519368"/>
            <a:ext cx="16459200" cy="9525"/>
          </a:xfrm>
          <a:prstGeom prst="rect">
            <a:avLst/>
          </a:prstGeom>
          <a:solidFill>
            <a:srgbClr val="F5F7FB">
              <a:alpha val="8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914400" y="9491663"/>
            <a:ext cx="800235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alone delivers 0.93 AUC and becomes Layer 5's most important feature.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15842159" y="9472613"/>
            <a:ext cx="160764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Nitish Kumar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46255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472208" y="685800"/>
            <a:ext cx="26937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836837" y="685800"/>
            <a:ext cx="562194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12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AND DBSCAN CLUSTERING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1223963"/>
            <a:ext cx="14716125" cy="146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and DBSCAN Reveal Dual Spam Modalities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2917031"/>
            <a:ext cx="876300" cy="381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374231"/>
            <a:ext cx="9634017" cy="5545187"/>
          </a:xfrm>
          <a:prstGeom prst="roundRect">
            <a:avLst>
              <a:gd name="adj" fmla="val 3092"/>
            </a:avLst>
          </a:prstGeom>
          <a:solidFill>
            <a:srgbClr val="F7F8FA"/>
          </a:solidFill>
          <a:ln/>
          <a:effectLst>
            <a:outerShdw sx="100000" sy="100000" kx="0" ky="0" algn="bl" rotWithShape="0" blurRad="571500" dist="285750" dir="5400000">
              <a:srgbClr val="000000">
                <a:alpha val="4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02371" y="3701281"/>
            <a:ext cx="6858000" cy="457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5795" y="8425681"/>
            <a:ext cx="761122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8" kern="0" dirty="0">
                <a:solidFill>
                  <a:srgbClr val="4A5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rate by K-Means cluster. Clusters 0 and 3 carry the bulk of spam.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158017" y="3374231"/>
            <a:ext cx="6401974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50" b="1" spc="-258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27.6%</a:t>
            </a:r>
            <a:endParaRPr lang="en-US" sz="6450" dirty="0"/>
          </a:p>
        </p:txBody>
      </p:sp>
      <p:sp>
        <p:nvSpPr>
          <p:cNvPr id="11" name="Text 8"/>
          <p:cNvSpPr/>
          <p:nvPr/>
        </p:nvSpPr>
        <p:spPr>
          <a:xfrm>
            <a:off x="11158017" y="4383881"/>
            <a:ext cx="45129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0, 5-star fakes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158017" y="4837212"/>
            <a:ext cx="6401974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50" b="1" spc="-258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36.5%</a:t>
            </a:r>
            <a:endParaRPr lang="en-US" sz="6450" dirty="0"/>
          </a:p>
        </p:txBody>
      </p:sp>
      <p:sp>
        <p:nvSpPr>
          <p:cNvPr id="13" name="Text 10"/>
          <p:cNvSpPr/>
          <p:nvPr/>
        </p:nvSpPr>
        <p:spPr>
          <a:xfrm>
            <a:off x="11158017" y="5846862"/>
            <a:ext cx="45129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3, 1-star attacks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1158017" y="6643092"/>
            <a:ext cx="6215509" cy="9525"/>
          </a:xfrm>
          <a:prstGeom prst="rect">
            <a:avLst/>
          </a:prstGeom>
          <a:solidFill>
            <a:srgbClr val="F5F7FB">
              <a:alpha val="8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0997997" y="6862167"/>
            <a:ext cx="6451729" cy="1962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5 chosen by elbow method on inertia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 0 and 3 share behavioral profile but split by mean rating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 cluster 13 (19,051 reviewers) reaches 47.7% spam, 3.6× baseline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14400" y="9224218"/>
            <a:ext cx="16459200" cy="9525"/>
          </a:xfrm>
          <a:prstGeom prst="rect">
            <a:avLst/>
          </a:prstGeom>
          <a:solidFill>
            <a:srgbClr val="F5F7FB">
              <a:alpha val="8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9491663"/>
            <a:ext cx="628232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behavioral shell, opposite intent: promotion vs. attack.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5209193" y="9472613"/>
            <a:ext cx="224060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Dhruv Sachin Jain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46255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472208" y="685800"/>
            <a:ext cx="26937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836837" y="685800"/>
            <a:ext cx="678505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12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CLASSIFICATION, FUSION, CALIBRATION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1223963"/>
            <a:ext cx="14716125" cy="146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Multi-Signal Classification, Stacked Ensemble, Calibration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2917031"/>
            <a:ext cx="876300" cy="381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374231"/>
            <a:ext cx="9634017" cy="5686127"/>
          </a:xfrm>
          <a:prstGeom prst="roundRect">
            <a:avLst>
              <a:gd name="adj" fmla="val 3015"/>
            </a:avLst>
          </a:prstGeom>
          <a:solidFill>
            <a:srgbClr val="141A2C"/>
          </a:solidFill>
          <a:ln w="9525">
            <a:solidFill>
              <a:srgbClr val="F5F7FB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6825" y="3764756"/>
            <a:ext cx="3654921" cy="2357438"/>
          </a:xfrm>
          <a:prstGeom prst="roundRect">
            <a:avLst>
              <a:gd name="adj" fmla="val 565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5F7FB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85900" y="3983831"/>
            <a:ext cx="331327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85900" y="4283869"/>
            <a:ext cx="331327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29" kern="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only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85900" y="4764881"/>
            <a:ext cx="838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81250" y="4838700"/>
            <a:ext cx="1521321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81250" y="4838700"/>
            <a:ext cx="1245915" cy="114300"/>
          </a:xfrm>
          <a:prstGeom prst="roundRect">
            <a:avLst>
              <a:gd name="adj" fmla="val 50000"/>
            </a:avLst>
          </a:prstGeom>
          <a:solidFill>
            <a:srgbClr val="5A627A"/>
          </a:solidFill>
          <a:ln/>
        </p:spPr>
      </p:sp>
      <p:sp>
        <p:nvSpPr>
          <p:cNvPr id="14" name="Text 12"/>
          <p:cNvSpPr/>
          <p:nvPr/>
        </p:nvSpPr>
        <p:spPr>
          <a:xfrm>
            <a:off x="3959721" y="4755356"/>
            <a:ext cx="7429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spc="-18" kern="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0.819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85900" y="5160169"/>
            <a:ext cx="838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381250" y="5233988"/>
            <a:ext cx="1521321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381250" y="5233988"/>
            <a:ext cx="664815" cy="114300"/>
          </a:xfrm>
          <a:prstGeom prst="roundRect">
            <a:avLst>
              <a:gd name="adj" fmla="val 50000"/>
            </a:avLst>
          </a:prstGeom>
          <a:solidFill>
            <a:srgbClr val="5A627A"/>
          </a:solidFill>
          <a:ln/>
        </p:spPr>
      </p:sp>
      <p:sp>
        <p:nvSpPr>
          <p:cNvPr id="18" name="Text 16"/>
          <p:cNvSpPr/>
          <p:nvPr/>
        </p:nvSpPr>
        <p:spPr>
          <a:xfrm>
            <a:off x="3959721" y="5150644"/>
            <a:ext cx="7429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spc="-18" kern="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0.437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85900" y="5555456"/>
            <a:ext cx="838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381250" y="5629275"/>
            <a:ext cx="1521321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81250" y="5629275"/>
            <a:ext cx="559817" cy="114300"/>
          </a:xfrm>
          <a:prstGeom prst="roundRect">
            <a:avLst>
              <a:gd name="adj" fmla="val 50000"/>
            </a:avLst>
          </a:prstGeom>
          <a:solidFill>
            <a:srgbClr val="5A627A"/>
          </a:solidFill>
          <a:ln/>
        </p:spPr>
      </p:sp>
      <p:sp>
        <p:nvSpPr>
          <p:cNvPr id="22" name="Text 20"/>
          <p:cNvSpPr/>
          <p:nvPr/>
        </p:nvSpPr>
        <p:spPr>
          <a:xfrm>
            <a:off x="3959721" y="5545931"/>
            <a:ext cx="7429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spc="-18" kern="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0.368</a:t>
            </a:r>
            <a:endParaRPr lang="en-US" sz="18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5621" y="4290120"/>
            <a:ext cx="571500" cy="5715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074146" y="4956870"/>
            <a:ext cx="13144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spc="18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L3 deberta_spam_prob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540996" y="3764756"/>
            <a:ext cx="3654996" cy="2357438"/>
          </a:xfrm>
          <a:prstGeom prst="roundRect">
            <a:avLst>
              <a:gd name="adj" fmla="val 565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5F7FB">
                <a:alpha val="8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0071" y="3983831"/>
            <a:ext cx="331335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760071" y="4283869"/>
            <a:ext cx="331335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29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Multi-signal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6760071" y="4764881"/>
            <a:ext cx="838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7655421" y="4838700"/>
            <a:ext cx="1521396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7655421" y="4838700"/>
            <a:ext cx="1436191" cy="1143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sp>
        <p:nvSpPr>
          <p:cNvPr id="31" name="Text 28"/>
          <p:cNvSpPr/>
          <p:nvPr/>
        </p:nvSpPr>
        <p:spPr>
          <a:xfrm>
            <a:off x="9233967" y="4755356"/>
            <a:ext cx="7429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spc="-18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0.944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760071" y="5160169"/>
            <a:ext cx="838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7655421" y="5233988"/>
            <a:ext cx="1521396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7655421" y="5233988"/>
            <a:ext cx="1127299" cy="1143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sp>
        <p:nvSpPr>
          <p:cNvPr id="35" name="Text 32"/>
          <p:cNvSpPr/>
          <p:nvPr/>
        </p:nvSpPr>
        <p:spPr>
          <a:xfrm>
            <a:off x="9233967" y="5150644"/>
            <a:ext cx="7429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spc="-18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0.741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6760071" y="5555456"/>
            <a:ext cx="838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7655421" y="5629275"/>
            <a:ext cx="1521396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7655421" y="5629275"/>
            <a:ext cx="1227758" cy="1143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sp>
        <p:nvSpPr>
          <p:cNvPr id="39" name="Text 36"/>
          <p:cNvSpPr/>
          <p:nvPr/>
        </p:nvSpPr>
        <p:spPr>
          <a:xfrm>
            <a:off x="9233967" y="5545931"/>
            <a:ext cx="7429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spc="-18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0.807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1266825" y="6536382"/>
            <a:ext cx="8929167" cy="9525"/>
          </a:xfrm>
          <a:prstGeom prst="rect">
            <a:avLst/>
          </a:prstGeom>
          <a:solidFill>
            <a:srgbClr val="F5F7FB">
              <a:alpha val="8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1266825" y="6698307"/>
            <a:ext cx="338631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 ensemble AUC </a:t>
            </a:r>
            <a:pPr algn="l" indent="0" marL="0">
              <a:buNone/>
            </a:pPr>
            <a:r>
              <a:rPr lang="en-US" sz="1800" spc="72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0.936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7090470" y="6698307"/>
            <a:ext cx="319868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Isotonic ECE </a:t>
            </a:r>
            <a:pPr algn="l" indent="0" marL="0">
              <a:buNone/>
            </a:pPr>
            <a:r>
              <a:rPr lang="en-US" sz="1800" spc="72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0.011 → 0.003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1266825" y="7412534"/>
            <a:ext cx="8929167" cy="1333500"/>
          </a:xfrm>
          <a:prstGeom prst="roundRect">
            <a:avLst>
              <a:gd name="adj" fmla="val 714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266700" dist="114300" dir="5400000">
              <a:srgbClr val="000000">
                <a:alpha val="40000"/>
              </a:srgbClr>
            </a:outerShdw>
          </a:effectLst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400175" y="7507784"/>
            <a:ext cx="1714500" cy="1143000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11158017" y="3374231"/>
            <a:ext cx="6401974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spc="-228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0.683 → 0.944</a:t>
            </a:r>
            <a:endParaRPr lang="en-US" sz="5700" dirty="0"/>
          </a:p>
        </p:txBody>
      </p:sp>
      <p:sp>
        <p:nvSpPr>
          <p:cNvPr id="46" name="Text 42"/>
          <p:cNvSpPr/>
          <p:nvPr/>
        </p:nvSpPr>
        <p:spPr>
          <a:xfrm>
            <a:off x="11158017" y="4288631"/>
            <a:ext cx="45129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AUC across the project lifetime</a:t>
            </a:r>
            <a:endParaRPr lang="en-US" sz="1800" dirty="0"/>
          </a:p>
        </p:txBody>
      </p:sp>
      <p:sp>
        <p:nvSpPr>
          <p:cNvPr id="47" name="Text 43"/>
          <p:cNvSpPr/>
          <p:nvPr/>
        </p:nvSpPr>
        <p:spPr>
          <a:xfrm>
            <a:off x="11158017" y="4741962"/>
            <a:ext cx="6401974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spc="-228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0.003 → 0.741</a:t>
            </a:r>
            <a:endParaRPr lang="en-US" sz="5700" dirty="0"/>
          </a:p>
        </p:txBody>
      </p:sp>
      <p:sp>
        <p:nvSpPr>
          <p:cNvPr id="48" name="Text 44"/>
          <p:cNvSpPr/>
          <p:nvPr/>
        </p:nvSpPr>
        <p:spPr>
          <a:xfrm>
            <a:off x="11158017" y="5656362"/>
            <a:ext cx="45129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F1@opt across the project lifetime</a:t>
            </a:r>
            <a:endParaRPr lang="en-US" sz="1800" dirty="0"/>
          </a:p>
        </p:txBody>
      </p:sp>
      <p:sp>
        <p:nvSpPr>
          <p:cNvPr id="49" name="Shape 45"/>
          <p:cNvSpPr/>
          <p:nvPr/>
        </p:nvSpPr>
        <p:spPr>
          <a:xfrm>
            <a:off x="11158017" y="6452592"/>
            <a:ext cx="6215509" cy="9525"/>
          </a:xfrm>
          <a:prstGeom prst="rect">
            <a:avLst/>
          </a:prstGeom>
          <a:solidFill>
            <a:srgbClr val="F5F7FB">
              <a:alpha val="8000"/>
            </a:srgbClr>
          </a:solidFill>
          <a:ln/>
        </p:spPr>
      </p:sp>
      <p:sp>
        <p:nvSpPr>
          <p:cNvPr id="50" name="Text 46"/>
          <p:cNvSpPr/>
          <p:nvPr/>
        </p:nvSpPr>
        <p:spPr>
          <a:xfrm>
            <a:off x="10997997" y="6671667"/>
            <a:ext cx="6451729" cy="2293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Granularity redesign (reviewer to review level) plus L3 text fusion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MLP, Random Forest, Decision Tree all exceed AUC 0.93 post-fusion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Isotonic calibration drops Expected Calibration Error to 0.003</a:t>
            </a:r>
            <a:endParaRPr lang="en-US" sz="1800" dirty="0"/>
          </a:p>
        </p:txBody>
      </p:sp>
      <p:sp>
        <p:nvSpPr>
          <p:cNvPr id="51" name="Shape 47"/>
          <p:cNvSpPr/>
          <p:nvPr/>
        </p:nvSpPr>
        <p:spPr>
          <a:xfrm>
            <a:off x="914400" y="9291638"/>
            <a:ext cx="16459200" cy="9525"/>
          </a:xfrm>
          <a:prstGeom prst="rect">
            <a:avLst/>
          </a:prstGeom>
          <a:solidFill>
            <a:srgbClr val="F5F7FB">
              <a:alpha val="8000"/>
            </a:srgbClr>
          </a:solidFill>
          <a:ln/>
        </p:spPr>
      </p:sp>
      <p:sp>
        <p:nvSpPr>
          <p:cNvPr id="52" name="Text 48"/>
          <p:cNvSpPr/>
          <p:nvPr/>
        </p:nvSpPr>
        <p:spPr>
          <a:xfrm>
            <a:off x="914400" y="9491663"/>
            <a:ext cx="789198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Granularity fix and text fusion convert the model from broken to publishable.</a:t>
            </a:r>
            <a:endParaRPr lang="en-US" sz="1800" dirty="0"/>
          </a:p>
        </p:txBody>
      </p:sp>
      <p:sp>
        <p:nvSpPr>
          <p:cNvPr id="53" name="Text 49"/>
          <p:cNvSpPr/>
          <p:nvPr/>
        </p:nvSpPr>
        <p:spPr>
          <a:xfrm>
            <a:off x="15921707" y="9472613"/>
            <a:ext cx="152809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Disha Jadav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46255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472208" y="685800"/>
            <a:ext cx="26937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836837" y="685800"/>
            <a:ext cx="407107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12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VALIDATION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1223963"/>
            <a:ext cx="14716125" cy="146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via Synthetic Attacks and Cross-Signal Jaccard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2917031"/>
            <a:ext cx="876300" cy="381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374231"/>
            <a:ext cx="9634017" cy="5299323"/>
          </a:xfrm>
          <a:prstGeom prst="roundRect">
            <a:avLst>
              <a:gd name="adj" fmla="val 3235"/>
            </a:avLst>
          </a:prstGeom>
          <a:solidFill>
            <a:srgbClr val="F7F8FA"/>
          </a:solidFill>
          <a:ln/>
          <a:effectLst>
            <a:outerShdw sx="100000" sy="100000" kx="0" ky="0" algn="bl" rotWithShape="0" blurRad="571500" dist="285750" dir="5400000">
              <a:srgbClr val="000000">
                <a:alpha val="4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88121" y="4178424"/>
            <a:ext cx="6286500" cy="3429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05317" y="3545681"/>
            <a:ext cx="1771650" cy="2033588"/>
          </a:xfrm>
          <a:prstGeom prst="roundRect">
            <a:avLst>
              <a:gd name="adj" fmla="val 5376"/>
            </a:avLst>
          </a:prstGeom>
          <a:solidFill>
            <a:srgbClr val="F7F8FA"/>
          </a:solidFill>
          <a:ln w="9525">
            <a:solidFill>
              <a:srgbClr val="000000">
                <a:alpha val="6000"/>
              </a:srgbClr>
            </a:solidFill>
            <a:prstDash val="solid"/>
          </a:ln>
          <a:effectLst>
            <a:outerShdw sx="100000" sy="100000" kx="0" ky="0" algn="bl" rotWithShape="0" blurRad="171450" dist="762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91042" y="3631406"/>
            <a:ext cx="1600200" cy="13001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52942" y="4969669"/>
            <a:ext cx="16764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44" kern="0" dirty="0">
                <a:solidFill>
                  <a:srgbClr val="4A5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JACCARD OVERLAP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2734264" y="7702674"/>
            <a:ext cx="59942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attack detection by layer; Jaccard overlap inset.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1158017" y="3374231"/>
            <a:ext cx="6401974" cy="101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0" b="1" spc="-324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8100" dirty="0"/>
          </a:p>
        </p:txBody>
      </p:sp>
      <p:sp>
        <p:nvSpPr>
          <p:cNvPr id="14" name="Text 10"/>
          <p:cNvSpPr/>
          <p:nvPr/>
        </p:nvSpPr>
        <p:spPr>
          <a:xfrm>
            <a:off x="11158017" y="4484787"/>
            <a:ext cx="451294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hard-tier camouflage caught by L5 fusion alone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11158017" y="5467648"/>
            <a:ext cx="6215509" cy="605730"/>
          </a:xfrm>
          <a:prstGeom prst="roundRect">
            <a:avLst>
              <a:gd name="adj" fmla="val 18870"/>
            </a:avLst>
          </a:prstGeom>
          <a:solidFill>
            <a:srgbClr val="FB923C">
              <a:alpha val="8000"/>
            </a:srgbClr>
          </a:solidFill>
          <a:ln w="9525">
            <a:solidFill>
              <a:srgbClr val="FB923C">
                <a:alpha val="3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338992" y="5610523"/>
            <a:ext cx="604002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72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caught by any single behavioral signal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11158017" y="6549628"/>
            <a:ext cx="6215509" cy="9525"/>
          </a:xfrm>
          <a:prstGeom prst="rect">
            <a:avLst/>
          </a:prstGeom>
          <a:solidFill>
            <a:srgbClr val="F5F7FB">
              <a:alpha val="8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10997997" y="6768703"/>
            <a:ext cx="6451729" cy="1962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synthetic attackers across easy, medium, hard tiers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L3-text alone solves the medium tier at 100%; behavioral signals reach 7 to 13%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C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Cross-signal Jaccard as low as 0.007 confirms complementary signals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914400" y="9130754"/>
            <a:ext cx="16459200" cy="9525"/>
          </a:xfrm>
          <a:prstGeom prst="rect">
            <a:avLst/>
          </a:prstGeom>
          <a:solidFill>
            <a:srgbClr val="F5F7FB">
              <a:alpha val="8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914400" y="9491663"/>
            <a:ext cx="874298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A8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Hard-tier veterans evade behavior and text individually; only fused L5 catches them.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5617130" y="9472613"/>
            <a:ext cx="183267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Himanshu Jain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2026-04-29T22:51:06Z</dcterms:created>
  <dcterms:modified xsi:type="dcterms:W3CDTF">2026-04-29T22:51:06Z</dcterms:modified>
</cp:coreProperties>
</file>